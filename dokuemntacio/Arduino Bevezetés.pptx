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257" r:id="rId3"/>
    <p:sldId id="28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80" r:id="rId13"/>
    <p:sldId id="281" r:id="rId14"/>
    <p:sldId id="282" r:id="rId15"/>
    <p:sldId id="283" r:id="rId16"/>
    <p:sldId id="284" r:id="rId17"/>
    <p:sldId id="266" r:id="rId18"/>
    <p:sldId id="267" r:id="rId19"/>
    <p:sldId id="286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9" r:id="rId29"/>
    <p:sldId id="276" r:id="rId30"/>
    <p:sldId id="277" r:id="rId31"/>
  </p:sldIdLst>
  <p:sldSz cx="12192000" cy="6858000"/>
  <p:notesSz cx="6858000" cy="9144000"/>
  <p:embeddedFontLst>
    <p:embeddedFont>
      <p:font typeface="Lato" panose="020F0502020204030203" pitchFamily="34" charset="0"/>
      <p:regular r:id="rId33"/>
      <p:bold r:id="rId34"/>
      <p:italic r:id="rId35"/>
      <p:boldItalic r:id="rId36"/>
    </p:embeddedFont>
    <p:embeddedFont>
      <p:font typeface="Poppins" panose="00000500000000000000" pitchFamily="2" charset="-18"/>
      <p:regular r:id="rId37"/>
      <p:bold r:id="rId38"/>
      <p:italic r:id="rId39"/>
      <p:boldItalic r:id="rId40"/>
    </p:embeddedFont>
    <p:embeddedFont>
      <p:font typeface="Poppins Medium" panose="00000600000000000000" pitchFamily="2" charset="-18"/>
      <p:regular r:id="rId41"/>
      <p:italic r:id="rId42"/>
    </p:embeddedFont>
    <p:embeddedFont>
      <p:font typeface="Poppins SemiBold" panose="00000700000000000000" pitchFamily="2" charset="-18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580" y="12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79421500-6D8E-6D07-DE48-948EC0648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64C67579-8C9A-D352-87A0-2BC922182F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95DFB554-9022-232A-17EA-CC7D608D99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5548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2E86515F-1A91-C8E1-6A96-B1EB95704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BF25C765-76A3-DD45-F0C8-9F4A163A55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62EAC78B-9352-2AED-BE67-37C450B98D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90755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>
          <a:extLst>
            <a:ext uri="{FF2B5EF4-FFF2-40B4-BE49-F238E27FC236}">
              <a16:creationId xmlns:a16="http://schemas.microsoft.com/office/drawing/2014/main" id="{C098321C-C8F7-DAC3-56F1-E47B0DA63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:notes">
            <a:extLst>
              <a:ext uri="{FF2B5EF4-FFF2-40B4-BE49-F238E27FC236}">
                <a16:creationId xmlns:a16="http://schemas.microsoft.com/office/drawing/2014/main" id="{A16765D6-D8A4-E5D1-C02A-B072B3495D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0:notes">
            <a:extLst>
              <a:ext uri="{FF2B5EF4-FFF2-40B4-BE49-F238E27FC236}">
                <a16:creationId xmlns:a16="http://schemas.microsoft.com/office/drawing/2014/main" id="{EE13737D-BA1E-62B1-91E8-4C23D13FF2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7530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hyperlink" Target="https://klaverstyn.com.au/david/wiki/index.php?title=HC-SR501_Infrared_PIR_Motion_Sensor_Module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jp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1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1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770584" y="2646015"/>
            <a:ext cx="6650831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Arduino Bevezetés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28937" y="3846165"/>
            <a:ext cx="6334125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Szenzormodalitások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- </a:t>
            </a:r>
            <a:r>
              <a:rPr lang="en-US" sz="18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Alapozás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Szoftver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és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Gyakorlat</a:t>
            </a:r>
            <a:endParaRPr lang="hu-HU" sz="1800" b="0" i="0" u="none" strike="noStrike" cap="none" dirty="0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hu-HU" sz="1800" dirty="0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hu-HU" sz="1800" dirty="0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Készítette Burian Sándor</a:t>
            </a: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Prof </a:t>
            </a:r>
            <a:r>
              <a:rPr lang="hu-HU" sz="1800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Dr</a:t>
            </a:r>
            <a:r>
              <a:rPr lang="hu-HU" sz="1800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hu-HU" sz="1800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kozlovszky</a:t>
            </a:r>
            <a:r>
              <a:rPr lang="hu-HU" sz="1800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Miklós diái alapján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524500" y="2678459"/>
            <a:ext cx="1143000" cy="571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770459" y="3021359"/>
            <a:ext cx="8651081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I. </a:t>
            </a:r>
            <a:r>
              <a:rPr lang="en-US" sz="450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Blokk</a:t>
            </a:r>
            <a:r>
              <a:rPr lang="en-US" sz="45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450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Alapozás</a:t>
            </a:r>
            <a:r>
              <a:rPr lang="en-US" sz="45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50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és</a:t>
            </a:r>
            <a:r>
              <a:rPr lang="en-US" sz="45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50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Elmélet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5619750" y="4069109"/>
            <a:ext cx="9525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~25 perc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93168A91-523C-F256-4EF1-4E1CCF6AC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04727BBC-001D-92E7-7F4D-B35C84F4D1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1229200A-14D9-79E4-6484-8722935F96D4}"/>
              </a:ext>
            </a:extLst>
          </p:cNvPr>
          <p:cNvSpPr/>
          <p:nvPr/>
        </p:nvSpPr>
        <p:spPr>
          <a:xfrm>
            <a:off x="5524500" y="2678459"/>
            <a:ext cx="1143000" cy="571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96E912-B3FE-6422-820F-1313A952EB1F}"/>
              </a:ext>
            </a:extLst>
          </p:cNvPr>
          <p:cNvSpPr txBox="1"/>
          <p:nvPr/>
        </p:nvSpPr>
        <p:spPr>
          <a:xfrm>
            <a:off x="1165225" y="5656590"/>
            <a:ext cx="110045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000" b="1" dirty="0"/>
              <a:t>https://github.com/buriansandor/Szenzormodalitasok-arduino_bevezetes-tananyag/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52CF33-57EC-16D5-91C6-79EEBCCA2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463550"/>
            <a:ext cx="3962400" cy="3962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4F1BFE-169B-B6E3-B765-53715ABE4247}"/>
              </a:ext>
            </a:extLst>
          </p:cNvPr>
          <p:cNvSpPr txBox="1"/>
          <p:nvPr/>
        </p:nvSpPr>
        <p:spPr>
          <a:xfrm>
            <a:off x="3289300" y="508348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400" b="1" dirty="0"/>
              <a:t>https://tinyurl.com/OEszenzor2026</a:t>
            </a:r>
          </a:p>
        </p:txBody>
      </p:sp>
    </p:spTree>
    <p:extLst>
      <p:ext uri="{BB962C8B-B14F-4D97-AF65-F5344CB8AC3E}">
        <p14:creationId xmlns:p14="http://schemas.microsoft.com/office/powerpoint/2010/main" val="212242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75632"/>
            <a:ext cx="5286375" cy="2772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75632"/>
            <a:ext cx="5286375" cy="277218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 az az Arduino?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62025" y="3066157"/>
            <a:ext cx="4730591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 err="1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Mikrokontroller</a:t>
            </a:r>
            <a:r>
              <a:rPr lang="en-US" sz="2250" b="0" i="0" u="none" strike="noStrike" cap="none" dirty="0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Platform</a:t>
            </a:r>
            <a:endParaRPr dirty="0"/>
          </a:p>
        </p:txBody>
      </p:sp>
      <p:sp>
        <p:nvSpPr>
          <p:cNvPr id="104" name="Google Shape;104;p15"/>
          <p:cNvSpPr txBox="1"/>
          <p:nvPr/>
        </p:nvSpPr>
        <p:spPr>
          <a:xfrm>
            <a:off x="962025" y="3647182"/>
            <a:ext cx="450532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Az Arduino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egy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nyílt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forráskódú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(open-source)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elektronikai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platform. Egy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könnyen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programozható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mikrokontroller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panelből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és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egy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szoftveres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fejlesztőkörnyezetből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áll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amellyel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digitális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eszközöket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és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interaktív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rendszereket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építhetünk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05" name="Google Shape;105;p15"/>
          <p:cNvSpPr txBox="1"/>
          <p:nvPr/>
        </p:nvSpPr>
        <p:spPr>
          <a:xfrm>
            <a:off x="6724650" y="3066157"/>
            <a:ext cx="4730591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Fizikai Számítástechnika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24650" y="3647182"/>
            <a:ext cx="450532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Célja a valós világgal való interakció. Képes szenzorok (hőmérő, fényérzékelő, gombok) adatait beolvasni, és ez alapján beavatkozókat (motorok, LED-ek, kijelzők) vezérelni egy egyszerűsített C/C++ programnyelv segítségével.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  <p:bldP spid="104" grpId="0"/>
      <p:bldP spid="105" grpId="0"/>
      <p:bldP spid="10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Az Arduino Uno Felépítése</a:t>
            </a:r>
            <a:endParaRPr/>
          </a:p>
        </p:txBody>
      </p:sp>
      <p:pic>
        <p:nvPicPr>
          <p:cNvPr id="113" name="Google Shape;11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571500" y="263366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 Panel Részei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71500" y="323373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központban az </a:t>
            </a:r>
            <a:r>
              <a:rPr lang="en-US" sz="135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ATmega328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mikrovezérlő áll (az "agy").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571500" y="3698527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panel szélén találhatók a </a:t>
            </a:r>
            <a:r>
              <a:rPr lang="en-US" sz="135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Digitális I/O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portok (LED-ekhez, gombokhoz) és az </a:t>
            </a:r>
            <a:r>
              <a:rPr lang="en-US" sz="135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Analóg bemenetek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(szenzorokhoz).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71500" y="4437608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Az </a:t>
            </a:r>
            <a:r>
              <a:rPr lang="en-US" sz="135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USB csatlakozón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keresztül töltjük fel a kódot, és kapja az áramot a gépből.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70819"/>
            <a:ext cx="3429000" cy="3268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270819"/>
            <a:ext cx="3429000" cy="3268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270819"/>
            <a:ext cx="3429000" cy="326886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Elektronikai Alapok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1195863" y="3470969"/>
            <a:ext cx="218027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Feszültség (U)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866775" y="4051994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Mértékegysége a </a:t>
            </a:r>
            <a:r>
              <a:rPr lang="en-US" sz="135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Volt (V)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Ez a "nyomás", amely arra kényszeríti az elektronokat, hogy áramoljanak az áramkörben. (Arduino: 5V)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5445918" y="3470969"/>
            <a:ext cx="130016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Áram (I)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4676775" y="4051994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Mértékegysége az </a:t>
            </a:r>
            <a:r>
              <a:rPr lang="en-US" sz="135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Amper (A)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A vezetékben áramló elektronok sebességét, mennyiségét jelenti az adott idő alatt.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8910875" y="3470969"/>
            <a:ext cx="1990248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Ellenállás (R)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8486775" y="4051994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Mértékegysége az </a:t>
            </a:r>
            <a:r>
              <a:rPr lang="en-US" sz="135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Ohm (Ω)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Az anyag vagy alkatrész tulajdonsága, amely korlátozza, akadályozza az áram szabad áramlását.</a:t>
            </a:r>
            <a:endParaRPr/>
          </a:p>
        </p:txBody>
      </p:sp>
      <p:pic>
        <p:nvPicPr>
          <p:cNvPr id="133" name="Google Shape;13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76450" y="2708969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29300" y="2708969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67875" y="2708969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Ohm Törvénye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571500" y="4278510"/>
            <a:ext cx="52863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Az Alapképlet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6334125" y="2928937"/>
            <a:ext cx="5550693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Feszültség = Áram * Ellenállás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6334125" y="3509962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Ez az elektronika legfontosabb összefüggése. Kifejezi, hogy a feszültség egyenesen arányos az áramerősséggel és az ellenállással.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6334125" y="4058542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 egy áramkörben (állandó feszültség mellett) növeljük az ellenállást, akkor az átfolyó áram mennyisége csökkenni fog. Ezt használjuk például a LED-ek védelmére!</a:t>
            </a:r>
            <a:endParaRPr/>
          </a:p>
        </p:txBody>
      </p:sp>
      <p:pic>
        <p:nvPicPr>
          <p:cNvPr id="146" name="Google Shape;14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53901" y="3373635"/>
            <a:ext cx="3521422" cy="63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Rövidzárlat Veszélye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1876425" y="2456557"/>
            <a:ext cx="8439150" cy="224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EF444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Soha ne kösd össze közvetlenül az 5V-os és a GND (föld) portokat fogyasztó vagy ellenállás nélkül, mert azonnal tönkreteszi az Arduino-t!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4548187" y="5077717"/>
            <a:ext cx="30956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— Munkavédelmi Alapszabály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1209675" y="2837557"/>
            <a:ext cx="4191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FECAC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"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10563225" y="4601472"/>
            <a:ext cx="4191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FECAC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071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Alkatrész-ismeret: Breadboard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695325" y="20002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809625" y="20002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próbapanel (Breadboard) lehetővé teszi áramkörök gyors, </a:t>
            </a:r>
            <a:r>
              <a:rPr lang="en-US" sz="150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forrasztás nélküli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megépítését és tesztelését.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695325" y="27527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809625" y="275272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műanyag lyukak alatt fémlemezek vannak, amelyek logikusan kötik össze az érintkezőket.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695325" y="35052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809625" y="35052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Középső lyukak: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Vízszintesen (soronként) 5-5 lyuk van összekötve. Ide kerülnek az alkatrészek (pl. LED, ellenállás).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695325" y="42576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809625" y="425767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Szélső tápsínek: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Függőlegesen végigfutó piros (+) és kék/fekete (-) vonalak a tápellátás elosztására.</a:t>
            </a:r>
            <a:endParaRPr/>
          </a:p>
        </p:txBody>
      </p:sp>
      <p:pic>
        <p:nvPicPr>
          <p:cNvPr id="172" name="Google Shape;17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Tartalom helye 5" descr="C:\Users\Zoli\Desktop\Suli\óra\Arduino\próbapanel.jpg">
            <a:extLst>
              <a:ext uri="{FF2B5EF4-FFF2-40B4-BE49-F238E27FC236}">
                <a16:creationId xmlns:a16="http://schemas.microsoft.com/office/drawing/2014/main" id="{6AF8CDDF-08C8-08C8-B34E-2E08891AEF94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90" b="89973" l="10000" r="92371">
                        <a14:foregroundMark x1="9485" y1="14011" x2="10206" y2="80357"/>
                        <a14:foregroundMark x1="10206" y1="80357" x2="20206" y2="85165"/>
                        <a14:foregroundMark x1="20206" y1="85165" x2="63093" y2="87225"/>
                        <a14:foregroundMark x1="63093" y1="87225" x2="86804" y2="85989"/>
                        <a14:foregroundMark x1="86804" y1="85989" x2="91753" y2="75000"/>
                        <a14:foregroundMark x1="91753" y1="75000" x2="92371" y2="11951"/>
                        <a14:foregroundMark x1="78969" y1="88736" x2="78969" y2="88736"/>
                        <a14:foregroundMark x1="78660" y1="86264" x2="78969" y2="89286"/>
                        <a14:foregroundMark x1="21959" y1="89286" x2="22268" y2="89286"/>
                      </a14:backgroundRemoval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6598731" y="1948405"/>
            <a:ext cx="5269335" cy="39546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Alkatrész-ismeret: LED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695325" y="20002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809625" y="20002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Fénykibocsátó Dióda (LED) polaritásérzékeny. Az áram csak egy irányba folyhat át rajta.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695325" y="27527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809625" y="275272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Anód (+):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hosszabb láb. Ezt csatlakoztatjuk a pozitív feszültséghez (pl. egy Arduino digitális porthoz).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695325" y="35052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809625" y="35052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Katód (-):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rövidebb láb, vagy a LED műanyag tokozásának "lapos" fele. Ezt csatlakoztatjuk a Földhöz (GND).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695325" y="42576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809625" y="425767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Mindig kötelező egy áramkorlátozó </a:t>
            </a:r>
            <a:r>
              <a:rPr lang="en-US" sz="150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ellenállást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is sorba kötni a LED-del, különben kiég!</a:t>
            </a:r>
            <a:endParaRPr/>
          </a:p>
        </p:txBody>
      </p:sp>
      <p:pic>
        <p:nvPicPr>
          <p:cNvPr id="188" name="Google Shape;18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Alkatrész: Ellenállás Színkódok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695325" y="20002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809625" y="2000250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Az ellenállások fizikai mérete túl kicsi ahhoz, hogy számokkal ráírják az értéküket. Helyette </a:t>
            </a:r>
            <a:r>
              <a:rPr lang="en-US" sz="150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színes sávokat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(kódokat) használnak.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695325" y="30575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809624" y="3057525"/>
            <a:ext cx="544017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sávok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sorrendje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határozza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meg 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számértéket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és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szorzót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00" name="Google Shape;200;p22"/>
          <p:cNvSpPr txBox="1"/>
          <p:nvPr/>
        </p:nvSpPr>
        <p:spPr>
          <a:xfrm>
            <a:off x="695325" y="35052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809625" y="35052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Az utolsó, általában picit távolabb eső sáv a </a:t>
            </a:r>
            <a:r>
              <a:rPr lang="en-US" sz="150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tolerancia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(pontosság), leggyakrabban arany (5%).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695325" y="42576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809625" y="425767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LED-ekhez Arduino esetén legtöbbször </a:t>
            </a:r>
            <a:r>
              <a:rPr lang="en-US" sz="150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220 Ohm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(Piros-Piros-Barna) vagy </a:t>
            </a:r>
            <a:r>
              <a:rPr lang="en-US" sz="150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330 Ohm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(Narancs-Narancs-Barna) ellenállást használunk.</a:t>
            </a:r>
            <a:endParaRPr/>
          </a:p>
        </p:txBody>
      </p:sp>
      <p:pic>
        <p:nvPicPr>
          <p:cNvPr id="204" name="Google Shape;20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14537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14537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43500" y="4055268"/>
            <a:ext cx="1108918" cy="30941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02A4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ADC ÉS MINTAVÉTELEZÉS</a:t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D6AD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4953000" y="2407443"/>
            <a:ext cx="70008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02A43"/>
                </a:solidFill>
                <a:latin typeface="Poppins"/>
                <a:ea typeface="Poppins"/>
                <a:cs typeface="Poppins"/>
                <a:sym typeface="Poppins"/>
              </a:rPr>
              <a:t>Felbontás és Pontosság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4953000" y="2874168"/>
            <a:ext cx="6667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E68"/>
                </a:solidFill>
                <a:latin typeface="Lato"/>
                <a:ea typeface="Lato"/>
                <a:cs typeface="Lato"/>
                <a:sym typeface="Lato"/>
              </a:rPr>
              <a:t>Az analóg szenzorok jelét az ADC (Analog-to-Digital Converter) alakítja bináris értékké.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4953000" y="4936182"/>
            <a:ext cx="6667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E68"/>
                </a:solidFill>
                <a:latin typeface="Lato"/>
                <a:ea typeface="Lato"/>
                <a:cs typeface="Lato"/>
                <a:sym typeface="Lato"/>
              </a:rPr>
              <a:t>Példa: 10-bit ADC esetén 5V / 1024 ≈ 4.88 mV lépésköz.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1" name="Google Shape;151;p19"/>
          <p:cNvGraphicFramePr/>
          <p:nvPr/>
        </p:nvGraphicFramePr>
        <p:xfrm>
          <a:off x="571500" y="2693789"/>
          <a:ext cx="11049000" cy="26418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4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6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6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55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0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Protokoll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Vonalak száma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Max. Sebesség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Típus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Alkalmazás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E6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UART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E6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 (TX, RX)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E6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~115.2 kbps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E6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Aszinkron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E6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Debug, GPS, GSM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E6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I2C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E6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 (SDA, SCL)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E6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400 kbps / 3.4 Mbps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E6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Szinkron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E6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Szenzorok (Több eszköz)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E6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E6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 (MISO, MOSI, SCK, SS)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E6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10+ Mbps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E6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Szinkron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E6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SD kártya, Display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2" name="Google Shape;152;p1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02A4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DIGITÁLIS BUSZRENDSZEREK</a:t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D6AD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571500" y="4037558"/>
            <a:ext cx="1548705" cy="9525"/>
          </a:xfrm>
          <a:prstGeom prst="rect">
            <a:avLst/>
          </a:prstGeom>
          <a:solidFill>
            <a:srgbClr val="BCCC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2120205" y="4037558"/>
            <a:ext cx="2796778" cy="9525"/>
          </a:xfrm>
          <a:prstGeom prst="rect">
            <a:avLst/>
          </a:prstGeom>
          <a:solidFill>
            <a:srgbClr val="BCCC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4916983" y="4037558"/>
            <a:ext cx="2392263" cy="9525"/>
          </a:xfrm>
          <a:prstGeom prst="rect">
            <a:avLst/>
          </a:prstGeom>
          <a:solidFill>
            <a:srgbClr val="BCCC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7309246" y="4037558"/>
            <a:ext cx="1456134" cy="9525"/>
          </a:xfrm>
          <a:prstGeom prst="rect">
            <a:avLst/>
          </a:prstGeom>
          <a:solidFill>
            <a:srgbClr val="BCCC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8765381" y="4037558"/>
            <a:ext cx="2855118" cy="9525"/>
          </a:xfrm>
          <a:prstGeom prst="rect">
            <a:avLst/>
          </a:prstGeom>
          <a:solidFill>
            <a:srgbClr val="BCCC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571500" y="4679453"/>
            <a:ext cx="1548705" cy="9525"/>
          </a:xfrm>
          <a:prstGeom prst="rect">
            <a:avLst/>
          </a:prstGeom>
          <a:solidFill>
            <a:srgbClr val="BCCC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2120205" y="4679453"/>
            <a:ext cx="2796778" cy="9525"/>
          </a:xfrm>
          <a:prstGeom prst="rect">
            <a:avLst/>
          </a:prstGeom>
          <a:solidFill>
            <a:srgbClr val="BCCC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4916983" y="4679453"/>
            <a:ext cx="2392263" cy="9525"/>
          </a:xfrm>
          <a:prstGeom prst="rect">
            <a:avLst/>
          </a:prstGeom>
          <a:solidFill>
            <a:srgbClr val="BCCC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7309246" y="4679453"/>
            <a:ext cx="1456134" cy="9525"/>
          </a:xfrm>
          <a:prstGeom prst="rect">
            <a:avLst/>
          </a:prstGeom>
          <a:solidFill>
            <a:srgbClr val="BCCC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8765381" y="4679453"/>
            <a:ext cx="2855118" cy="9525"/>
          </a:xfrm>
          <a:prstGeom prst="rect">
            <a:avLst/>
          </a:prstGeom>
          <a:solidFill>
            <a:srgbClr val="BCCC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571500" y="5321349"/>
            <a:ext cx="1548705" cy="9525"/>
          </a:xfrm>
          <a:prstGeom prst="rect">
            <a:avLst/>
          </a:prstGeom>
          <a:solidFill>
            <a:srgbClr val="BCCC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2120205" y="5321349"/>
            <a:ext cx="2796778" cy="9525"/>
          </a:xfrm>
          <a:prstGeom prst="rect">
            <a:avLst/>
          </a:prstGeom>
          <a:solidFill>
            <a:srgbClr val="BCCC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4916983" y="5321349"/>
            <a:ext cx="2392263" cy="9525"/>
          </a:xfrm>
          <a:prstGeom prst="rect">
            <a:avLst/>
          </a:prstGeom>
          <a:solidFill>
            <a:srgbClr val="BCCC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7309246" y="5321349"/>
            <a:ext cx="1456134" cy="9525"/>
          </a:xfrm>
          <a:prstGeom prst="rect">
            <a:avLst/>
          </a:prstGeom>
          <a:solidFill>
            <a:srgbClr val="BCCC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8765381" y="5321349"/>
            <a:ext cx="2855118" cy="9525"/>
          </a:xfrm>
          <a:prstGeom prst="rect">
            <a:avLst/>
          </a:prstGeom>
          <a:solidFill>
            <a:srgbClr val="BCCC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24062"/>
            <a:ext cx="3492549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024062"/>
            <a:ext cx="3492549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024062"/>
            <a:ext cx="3492549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2262187"/>
            <a:ext cx="311154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40299" y="2262187"/>
            <a:ext cx="311154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000" y="2262187"/>
            <a:ext cx="311154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40299" y="2262187"/>
            <a:ext cx="311154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02A4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GYAKORI SZENZORMODALITÁSOK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D6AD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684211" y="4357687"/>
            <a:ext cx="326712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02A43"/>
                </a:solidFill>
                <a:latin typeface="Poppins"/>
                <a:ea typeface="Poppins"/>
                <a:cs typeface="Poppins"/>
                <a:sym typeface="Poppins"/>
              </a:rPr>
              <a:t>Optikai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762000" y="4824412"/>
            <a:ext cx="31115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E68"/>
                </a:solidFill>
                <a:latin typeface="Lato"/>
                <a:ea typeface="Lato"/>
                <a:cs typeface="Lato"/>
                <a:sym typeface="Lato"/>
              </a:rPr>
              <a:t>LDR, </a:t>
            </a:r>
            <a:r>
              <a:rPr lang="en-US" sz="1500" b="0" i="0" u="none" strike="noStrike" cap="none" dirty="0" err="1">
                <a:solidFill>
                  <a:srgbClr val="334E68"/>
                </a:solidFill>
                <a:latin typeface="Lato"/>
                <a:ea typeface="Lato"/>
                <a:cs typeface="Lato"/>
                <a:sym typeface="Lato"/>
              </a:rPr>
              <a:t>Fotodióda</a:t>
            </a:r>
            <a:r>
              <a:rPr lang="en-US" sz="1500" b="0" i="0" u="none" strike="noStrike" cap="none" dirty="0">
                <a:solidFill>
                  <a:srgbClr val="334E68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334E68"/>
                </a:solidFill>
                <a:latin typeface="Lato"/>
                <a:ea typeface="Lato"/>
                <a:cs typeface="Lato"/>
                <a:sym typeface="Lato"/>
              </a:rPr>
              <a:t>Környezeti</a:t>
            </a:r>
            <a:r>
              <a:rPr lang="en-US" sz="1500" b="0" i="0" u="none" strike="noStrike" cap="none" dirty="0">
                <a:solidFill>
                  <a:srgbClr val="334E6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E68"/>
                </a:solidFill>
                <a:latin typeface="Lato"/>
                <a:ea typeface="Lato"/>
                <a:cs typeface="Lato"/>
                <a:sym typeface="Lato"/>
              </a:rPr>
              <a:t>fényérzékelők</a:t>
            </a:r>
            <a:r>
              <a:rPr lang="en-US" sz="1500" b="0" i="0" u="none" strike="noStrike" cap="none" dirty="0">
                <a:solidFill>
                  <a:srgbClr val="334E68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87" name="Google Shape;187;p20"/>
          <p:cNvSpPr txBox="1"/>
          <p:nvPr/>
        </p:nvSpPr>
        <p:spPr>
          <a:xfrm>
            <a:off x="4462510" y="4357687"/>
            <a:ext cx="326712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02A43"/>
                </a:solidFill>
                <a:latin typeface="Poppins"/>
                <a:ea typeface="Poppins"/>
                <a:cs typeface="Poppins"/>
                <a:sym typeface="Poppins"/>
              </a:rPr>
              <a:t>Termikus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4540299" y="4824412"/>
            <a:ext cx="31115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E68"/>
                </a:solidFill>
                <a:latin typeface="Lato"/>
                <a:ea typeface="Lato"/>
                <a:cs typeface="Lato"/>
                <a:sym typeface="Lato"/>
              </a:rPr>
              <a:t>NTC, DHT11/22, DS18B20 (1-Wire busz).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8240810" y="4357687"/>
            <a:ext cx="326712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02A43"/>
                </a:solidFill>
                <a:latin typeface="Poppins"/>
                <a:ea typeface="Poppins"/>
                <a:cs typeface="Poppins"/>
                <a:sym typeface="Poppins"/>
              </a:rPr>
              <a:t>Inerciális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8318599" y="4824412"/>
            <a:ext cx="31115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E68"/>
                </a:solidFill>
                <a:latin typeface="Lato"/>
                <a:ea typeface="Lato"/>
                <a:cs typeface="Lato"/>
                <a:sym typeface="Lato"/>
              </a:rPr>
              <a:t>PIR, Accelerometer (Gyorsulásmérő), Gyroszkóp.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AD41E7-88A5-A36B-62F8-C86E05F8C24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8921873" y="2166937"/>
            <a:ext cx="1905000" cy="1905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/>
      <p:bldP spid="187" grpId="0"/>
      <p:bldP spid="188" grpId="0"/>
      <p:bldP spid="189" grpId="0"/>
      <p:bldP spid="19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00275"/>
            <a:ext cx="3492549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00275"/>
            <a:ext cx="3492549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00275"/>
            <a:ext cx="3492549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267652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30799" y="267652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09099" y="267652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102A4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HALADÓ KONCEPCIÓK</a:t>
            </a:r>
            <a:endParaRPr dirty="0"/>
          </a:p>
        </p:txBody>
      </p:sp>
      <p:sp>
        <p:nvSpPr>
          <p:cNvPr id="231" name="Google Shape;231;p23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D6AD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952500" y="3362325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02A43"/>
                </a:solidFill>
                <a:latin typeface="Poppins"/>
                <a:ea typeface="Poppins"/>
                <a:cs typeface="Poppins"/>
                <a:sym typeface="Poppins"/>
              </a:rPr>
              <a:t>Interrupts (ISR)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952500" y="3829050"/>
            <a:ext cx="2730549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E68"/>
                </a:solidFill>
                <a:latin typeface="Lato"/>
                <a:ea typeface="Lato"/>
                <a:cs typeface="Lato"/>
                <a:sym typeface="Lato"/>
              </a:rPr>
              <a:t>Polling helyett eseményvezérelt működés. Kritikus szakaszok kezelése noInterrupts() hívással.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4730799" y="3362325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02A43"/>
                </a:solidFill>
                <a:latin typeface="Poppins"/>
                <a:ea typeface="Poppins"/>
                <a:cs typeface="Poppins"/>
                <a:sym typeface="Poppins"/>
              </a:rPr>
              <a:t>RTOS alapok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4730799" y="3829050"/>
            <a:ext cx="27305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E68"/>
                </a:solidFill>
                <a:latin typeface="Lato"/>
                <a:ea typeface="Lato"/>
                <a:cs typeface="Lato"/>
                <a:sym typeface="Lato"/>
              </a:rPr>
              <a:t>ESP32 esetén FreeRTOS: Párhuzamos taszkok, szemafortok és sorok (Queues) használata.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8509099" y="3362325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02A43"/>
                </a:solidFill>
                <a:latin typeface="Poppins"/>
                <a:ea typeface="Poppins"/>
                <a:cs typeface="Poppins"/>
                <a:sym typeface="Poppins"/>
              </a:rPr>
              <a:t>Low Power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8509099" y="3829050"/>
            <a:ext cx="27305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E68"/>
                </a:solidFill>
                <a:latin typeface="Lato"/>
                <a:ea typeface="Lato"/>
                <a:cs typeface="Lato"/>
                <a:sym typeface="Lato"/>
              </a:rPr>
              <a:t>Deep Sleep módok és ébresztési források (RTC Timer, External Trigger).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050" y="158750"/>
            <a:ext cx="11093449" cy="65785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D6AD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2D5C21-BEF0-6B6C-50E4-D69EA29654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4996" y="361522"/>
            <a:ext cx="7935432" cy="61349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Munkavédelmi és Használati Szabályok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1047750" y="2423517"/>
            <a:ext cx="10572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Rövidzárlat: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Ahogy említettük, a +5V és a GND összekötése tilos! Ha a panel forróvá válik vagy pittyeg, azonnal húzd ki az USB kábelt!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1047750" y="3331964"/>
            <a:ext cx="10572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Áramtalanítás: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Mindig áramtalanított (USB-ből kihúzott) panelen építs vagy módosíts áramkört! Csak ha kész a breadboard, akkor dugd be.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1047750" y="4240410"/>
            <a:ext cx="10572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Folyadékok: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Tartsd távol a vizet és a folyadékokat az elektronikától, zárlatot okozhatnak.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1047750" y="4813696"/>
            <a:ext cx="10572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LED figyelem: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nagy fényerejű LED-ekbe közvetlen, közelről belenézni szemfáradtságot okozhat.</a:t>
            </a:r>
            <a:endParaRPr/>
          </a:p>
        </p:txBody>
      </p:sp>
      <p:pic>
        <p:nvPicPr>
          <p:cNvPr id="215" name="Google Shape;21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20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60539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6898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842271"/>
            <a:ext cx="2571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5524500" y="2678459"/>
            <a:ext cx="1143000" cy="571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1505426" y="3021359"/>
            <a:ext cx="9181147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II. Blokk: Szoftveres Ismeretek</a:t>
            </a:r>
            <a:endParaRPr/>
          </a:p>
        </p:txBody>
      </p:sp>
      <p:sp>
        <p:nvSpPr>
          <p:cNvPr id="226" name="Google Shape;226;p24"/>
          <p:cNvSpPr txBox="1"/>
          <p:nvPr/>
        </p:nvSpPr>
        <p:spPr>
          <a:xfrm>
            <a:off x="5434012" y="4069109"/>
            <a:ext cx="13239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~20-25 perc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20CF5753-2A8F-03D9-BF45-E23E5C7AE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736B7452-8769-8BB8-C11E-25898A613C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>
            <a:extLst>
              <a:ext uri="{FF2B5EF4-FFF2-40B4-BE49-F238E27FC236}">
                <a16:creationId xmlns:a16="http://schemas.microsoft.com/office/drawing/2014/main" id="{25957E87-C77E-9AFA-4B3D-497A7B1C070E}"/>
              </a:ext>
            </a:extLst>
          </p:cNvPr>
          <p:cNvSpPr/>
          <p:nvPr/>
        </p:nvSpPr>
        <p:spPr>
          <a:xfrm>
            <a:off x="5524500" y="2678459"/>
            <a:ext cx="1143000" cy="571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8CCB6B-594A-D5D6-A2FD-FEBD0E1308D5}"/>
              </a:ext>
            </a:extLst>
          </p:cNvPr>
          <p:cNvSpPr txBox="1"/>
          <p:nvPr/>
        </p:nvSpPr>
        <p:spPr>
          <a:xfrm>
            <a:off x="1165225" y="5656590"/>
            <a:ext cx="110045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000" b="1" dirty="0"/>
              <a:t>https://github.com/buriansandor/Szenzormodalitasok-arduino_bevezetes-tananyag/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750FF4-23A3-66BD-C91F-9C8C9B4E6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463550"/>
            <a:ext cx="3962400" cy="3962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5C4A13-19AC-1965-B9D6-84CB72185189}"/>
              </a:ext>
            </a:extLst>
          </p:cNvPr>
          <p:cNvSpPr txBox="1"/>
          <p:nvPr/>
        </p:nvSpPr>
        <p:spPr>
          <a:xfrm>
            <a:off x="3289300" y="508348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400" b="1" dirty="0"/>
              <a:t>https://tinyurl.com/OEszenzor2026</a:t>
            </a:r>
          </a:p>
        </p:txBody>
      </p:sp>
    </p:spTree>
    <p:extLst>
      <p:ext uri="{BB962C8B-B14F-4D97-AF65-F5344CB8AC3E}">
        <p14:creationId xmlns:p14="http://schemas.microsoft.com/office/powerpoint/2010/main" val="1578267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Arduino IDE Felület</a:t>
            </a:r>
            <a:endParaRPr/>
          </a:p>
        </p:txBody>
      </p:sp>
      <p:pic>
        <p:nvPicPr>
          <p:cNvPr id="233" name="Google Shape;23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5"/>
          <p:cNvSpPr txBox="1"/>
          <p:nvPr/>
        </p:nvSpPr>
        <p:spPr>
          <a:xfrm>
            <a:off x="571500" y="263366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 Fejlesztőkörnyezet</a:t>
            </a:r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571500" y="3233737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Az integrált fejlesztőkörnyezetben (IDE) írjuk a programkódot. Ezt a fájlt "Sketch"-nek hívják.</a:t>
            </a:r>
            <a:endParaRPr/>
          </a:p>
        </p:txBody>
      </p:sp>
      <p:sp>
        <p:nvSpPr>
          <p:cNvPr id="236" name="Google Shape;236;p25"/>
          <p:cNvSpPr txBox="1"/>
          <p:nvPr/>
        </p:nvSpPr>
        <p:spPr>
          <a:xfrm>
            <a:off x="571500" y="397281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Verify (Pipa):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Ellenőrzi, hogy van-e szintaktikai hiba a kódunkban.</a:t>
            </a:r>
            <a:endParaRPr/>
          </a:p>
        </p:txBody>
      </p:sp>
      <p:sp>
        <p:nvSpPr>
          <p:cNvPr id="237" name="Google Shape;237;p25"/>
          <p:cNvSpPr txBox="1"/>
          <p:nvPr/>
        </p:nvSpPr>
        <p:spPr>
          <a:xfrm>
            <a:off x="571500" y="4437608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Upload (Nyíl):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Lefordítja a kódot, és USB-n keresztül betölti a mikrokontroller memóriájába.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Board és Port Kiválasztása</a:t>
            </a:r>
            <a:endParaRPr/>
          </a:p>
        </p:txBody>
      </p:sp>
      <p:sp>
        <p:nvSpPr>
          <p:cNvPr id="245" name="Google Shape;245;p26"/>
          <p:cNvSpPr txBox="1"/>
          <p:nvPr/>
        </p:nvSpPr>
        <p:spPr>
          <a:xfrm>
            <a:off x="695325" y="20002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6" name="Google Shape;246;p26"/>
          <p:cNvSpPr txBox="1"/>
          <p:nvPr/>
        </p:nvSpPr>
        <p:spPr>
          <a:xfrm>
            <a:off x="809625" y="20002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Feltöltés (Upload) előtt az IDE-nek pontosan tudnia kell, hogy </a:t>
            </a:r>
            <a:r>
              <a:rPr lang="en-US" sz="150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milyen hardverrel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akar beszélni.</a:t>
            </a:r>
            <a:endParaRPr/>
          </a:p>
        </p:txBody>
      </p:sp>
      <p:sp>
        <p:nvSpPr>
          <p:cNvPr id="247" name="Google Shape;247;p26"/>
          <p:cNvSpPr txBox="1"/>
          <p:nvPr/>
        </p:nvSpPr>
        <p:spPr>
          <a:xfrm>
            <a:off x="695325" y="27527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8" name="Google Shape;248;p26"/>
          <p:cNvSpPr txBox="1"/>
          <p:nvPr/>
        </p:nvSpPr>
        <p:spPr>
          <a:xfrm>
            <a:off x="809625" y="275272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Board (Alaplap):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Az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Eszközök (Tools) -&gt; Board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menüben mindig ki kell választani a pontos lapkát (pl. Arduino Uno).</a:t>
            </a:r>
            <a:endParaRPr/>
          </a:p>
        </p:txBody>
      </p:sp>
      <p:sp>
        <p:nvSpPr>
          <p:cNvPr id="249" name="Google Shape;249;p26"/>
          <p:cNvSpPr txBox="1"/>
          <p:nvPr/>
        </p:nvSpPr>
        <p:spPr>
          <a:xfrm>
            <a:off x="695325" y="35052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0" name="Google Shape;250;p26"/>
          <p:cNvSpPr txBox="1"/>
          <p:nvPr/>
        </p:nvSpPr>
        <p:spPr>
          <a:xfrm>
            <a:off x="809625" y="3505200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Port: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Az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Eszközök -&gt; Port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menüben kell kijelölni a fizikai USB csatlakozót. (Windows alatt ez COM3, COM4 stb., MacOS/Linux alatt /dev/cu.usb...).</a:t>
            </a:r>
            <a:endParaRPr/>
          </a:p>
        </p:txBody>
      </p:sp>
      <p:sp>
        <p:nvSpPr>
          <p:cNvPr id="251" name="Google Shape;251;p26"/>
          <p:cNvSpPr txBox="1"/>
          <p:nvPr/>
        </p:nvSpPr>
        <p:spPr>
          <a:xfrm>
            <a:off x="695325" y="45624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2" name="Google Shape;252;p26"/>
          <p:cNvSpPr txBox="1"/>
          <p:nvPr/>
        </p:nvSpPr>
        <p:spPr>
          <a:xfrm>
            <a:off x="809625" y="456247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 ezek nincsenek beállítva, a feltöltés mindig hibára fog futni!</a:t>
            </a:r>
            <a:endParaRPr/>
          </a:p>
        </p:txBody>
      </p:sp>
      <p:pic>
        <p:nvPicPr>
          <p:cNvPr id="253" name="Google Shape;253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01341"/>
            <a:ext cx="5286375" cy="3007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401341"/>
            <a:ext cx="5286375" cy="3007816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 Program Szerkezete</a:t>
            </a:r>
            <a:endParaRPr/>
          </a:p>
        </p:txBody>
      </p:sp>
      <p:sp>
        <p:nvSpPr>
          <p:cNvPr id="262" name="Google Shape;262;p27"/>
          <p:cNvSpPr txBox="1"/>
          <p:nvPr/>
        </p:nvSpPr>
        <p:spPr>
          <a:xfrm>
            <a:off x="962025" y="2791866"/>
            <a:ext cx="4730591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void setup() { ... }</a:t>
            </a:r>
            <a:endParaRPr/>
          </a:p>
        </p:txBody>
      </p:sp>
      <p:sp>
        <p:nvSpPr>
          <p:cNvPr id="263" name="Google Shape;263;p27"/>
          <p:cNvSpPr txBox="1"/>
          <p:nvPr/>
        </p:nvSpPr>
        <p:spPr>
          <a:xfrm>
            <a:off x="962025" y="3372891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Ez a kódrészlet a program indulásakor (vagy a Reset gomb megnyomásakor) </a:t>
            </a:r>
            <a:r>
              <a:rPr lang="en-US" sz="135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pontosan egyszer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fut le.</a:t>
            </a:r>
            <a:endParaRPr/>
          </a:p>
        </p:txBody>
      </p:sp>
      <p:sp>
        <p:nvSpPr>
          <p:cNvPr id="264" name="Google Shape;264;p27"/>
          <p:cNvSpPr txBox="1"/>
          <p:nvPr/>
        </p:nvSpPr>
        <p:spPr>
          <a:xfrm>
            <a:off x="962025" y="3921472"/>
            <a:ext cx="45053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Itt végezzük el az alapbeállításokat: definiáljuk az I/O portok irányát (melyik láb kimenet, melyik bemenet), és elindítjuk a kommunikációs csatornákat.</a:t>
            </a:r>
            <a:endParaRPr/>
          </a:p>
        </p:txBody>
      </p:sp>
      <p:sp>
        <p:nvSpPr>
          <p:cNvPr id="265" name="Google Shape;265;p27"/>
          <p:cNvSpPr txBox="1"/>
          <p:nvPr/>
        </p:nvSpPr>
        <p:spPr>
          <a:xfrm>
            <a:off x="6724650" y="2791866"/>
            <a:ext cx="4730591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void loop() { ... }</a:t>
            </a:r>
            <a:endParaRPr/>
          </a:p>
        </p:txBody>
      </p:sp>
      <p:sp>
        <p:nvSpPr>
          <p:cNvPr id="266" name="Google Shape;266;p27"/>
          <p:cNvSpPr txBox="1"/>
          <p:nvPr/>
        </p:nvSpPr>
        <p:spPr>
          <a:xfrm>
            <a:off x="6724650" y="3372891"/>
            <a:ext cx="45053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setup()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lefutása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után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vezérlés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ebbe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blokkba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kerül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A loop() </a:t>
            </a:r>
            <a:r>
              <a:rPr lang="en-US" sz="1350" b="1" i="0" u="none" strike="noStrike" cap="none" dirty="0" err="1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végtelen</a:t>
            </a:r>
            <a:r>
              <a:rPr lang="en-US" sz="1350" b="1" i="0" u="none" strike="noStrike" cap="none" dirty="0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ciklusban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folyamatosan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ismétlődik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67" name="Google Shape;267;p27"/>
          <p:cNvSpPr txBox="1"/>
          <p:nvPr/>
        </p:nvSpPr>
        <p:spPr>
          <a:xfrm>
            <a:off x="6724650" y="4195762"/>
            <a:ext cx="45053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Ide kerül a program fő logikája: szenzorok ismétlődő olvasása, döntések meghozatala, és a kimenetek (pl. LED villogtatás) folyamatos frissítése.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Alapvető Parancsok</a:t>
            </a:r>
            <a:endParaRPr/>
          </a:p>
        </p:txBody>
      </p:sp>
      <p:sp>
        <p:nvSpPr>
          <p:cNvPr id="274" name="Google Shape;274;p28"/>
          <p:cNvSpPr txBox="1"/>
          <p:nvPr/>
        </p:nvSpPr>
        <p:spPr>
          <a:xfrm>
            <a:off x="1047750" y="2504479"/>
            <a:ext cx="10572750" cy="708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pinMode(pin, irány);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- A setup()-ban használjuk. Megmondja a processzornak, hogy a megadott láb kimenet (OUTPUT) vagy bemenet (INPUT) legyen.</a:t>
            </a:r>
            <a:endParaRPr/>
          </a:p>
        </p:txBody>
      </p:sp>
      <p:sp>
        <p:nvSpPr>
          <p:cNvPr id="275" name="Google Shape;275;p28"/>
          <p:cNvSpPr txBox="1"/>
          <p:nvPr/>
        </p:nvSpPr>
        <p:spPr>
          <a:xfrm>
            <a:off x="1047750" y="3451026"/>
            <a:ext cx="10572750" cy="708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digitalWrite(pin, érték);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- Ha egy port OUTPUT, ezzel a paranccsal adhatunk rá áramot (HIGH = 5V), vagy kapcsolhatjuk le (LOW = 0V). Ezzel kapcsoljuk be/ki a LED-et.</a:t>
            </a:r>
            <a:endParaRPr/>
          </a:p>
        </p:txBody>
      </p:sp>
      <p:sp>
        <p:nvSpPr>
          <p:cNvPr id="276" name="Google Shape;276;p28"/>
          <p:cNvSpPr txBox="1"/>
          <p:nvPr/>
        </p:nvSpPr>
        <p:spPr>
          <a:xfrm>
            <a:off x="1047750" y="4397573"/>
            <a:ext cx="10572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delay(ms);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- Várakoztatás. A program futása teljesen megáll a megadott milliszekundum idejére. (1000 milliszekundum = 1 másodperc).</a:t>
            </a:r>
            <a:endParaRPr/>
          </a:p>
        </p:txBody>
      </p:sp>
      <p:pic>
        <p:nvPicPr>
          <p:cNvPr id="277" name="Google Shape;277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33054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7960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26148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70794"/>
            <a:ext cx="5286375" cy="3668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70794"/>
            <a:ext cx="5286375" cy="3668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4008090"/>
            <a:ext cx="450532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4282380"/>
            <a:ext cx="450532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Változók és Típusok</a:t>
            </a:r>
            <a:endParaRPr/>
          </a:p>
        </p:txBody>
      </p:sp>
      <p:sp>
        <p:nvSpPr>
          <p:cNvPr id="290" name="Google Shape;290;p29"/>
          <p:cNvSpPr txBox="1"/>
          <p:nvPr/>
        </p:nvSpPr>
        <p:spPr>
          <a:xfrm>
            <a:off x="962025" y="2461319"/>
            <a:ext cx="4730591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 (Integer)</a:t>
            </a:r>
            <a:endParaRPr/>
          </a:p>
        </p:txBody>
      </p:sp>
      <p:sp>
        <p:nvSpPr>
          <p:cNvPr id="291" name="Google Shape;291;p29"/>
          <p:cNvSpPr txBox="1"/>
          <p:nvPr/>
        </p:nvSpPr>
        <p:spPr>
          <a:xfrm>
            <a:off x="962025" y="3042344"/>
            <a:ext cx="4505325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Olyan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változó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memória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rekesz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amely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egész</a:t>
            </a:r>
            <a:r>
              <a:rPr lang="en-US" sz="1350" b="1" i="0" u="none" strike="noStrike" cap="none" dirty="0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számokat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képes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tárolni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Gyakran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használjuk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például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várakozási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idő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(delay)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vagy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portszámok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eltárolására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92" name="Google Shape;292;p29"/>
          <p:cNvSpPr txBox="1"/>
          <p:nvPr/>
        </p:nvSpPr>
        <p:spPr>
          <a:xfrm>
            <a:off x="6724650" y="2461319"/>
            <a:ext cx="4730591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const (Konstans)</a:t>
            </a:r>
            <a:endParaRPr/>
          </a:p>
        </p:txBody>
      </p:sp>
      <p:sp>
        <p:nvSpPr>
          <p:cNvPr id="293" name="Google Shape;293;p29"/>
          <p:cNvSpPr txBox="1"/>
          <p:nvPr/>
        </p:nvSpPr>
        <p:spPr>
          <a:xfrm>
            <a:off x="6724650" y="3042344"/>
            <a:ext cx="4505325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Azt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jelenti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az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Arduino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számára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hogy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ez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az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érték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program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futása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során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soha</a:t>
            </a:r>
            <a:r>
              <a:rPr lang="en-US" sz="1350" b="1" i="0" u="none" strike="noStrike" cap="none" dirty="0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nem</a:t>
            </a:r>
            <a:r>
              <a:rPr lang="en-US" sz="1350" b="1" i="0" u="none" strike="noStrike" cap="none" dirty="0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 fog </a:t>
            </a:r>
            <a:r>
              <a:rPr lang="en-US" sz="1350" b="1" i="0" u="none" strike="noStrike" cap="none" dirty="0" err="1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megváltozni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Ez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sokkal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memóriakímélőbb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és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biztonságosabb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PIN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számok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definiálásánál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0"/>
          <p:cNvSpPr/>
          <p:nvPr/>
        </p:nvSpPr>
        <p:spPr>
          <a:xfrm>
            <a:off x="5524500" y="2678459"/>
            <a:ext cx="1143000" cy="571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0"/>
          <p:cNvSpPr txBox="1"/>
          <p:nvPr/>
        </p:nvSpPr>
        <p:spPr>
          <a:xfrm>
            <a:off x="3115627" y="3021359"/>
            <a:ext cx="596074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III. Blokk: Gyakorlat</a:t>
            </a:r>
            <a:endParaRPr/>
          </a:p>
        </p:txBody>
      </p:sp>
      <p:sp>
        <p:nvSpPr>
          <p:cNvPr id="301" name="Google Shape;301;p30"/>
          <p:cNvSpPr txBox="1"/>
          <p:nvPr/>
        </p:nvSpPr>
        <p:spPr>
          <a:xfrm>
            <a:off x="5362575" y="4069109"/>
            <a:ext cx="14668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~90-100 perc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Kapcsolási Rajz: Blink</a:t>
            </a:r>
            <a:endParaRPr/>
          </a:p>
        </p:txBody>
      </p:sp>
      <p:sp>
        <p:nvSpPr>
          <p:cNvPr id="309" name="Google Shape;309;p31"/>
          <p:cNvSpPr txBox="1"/>
          <p:nvPr/>
        </p:nvSpPr>
        <p:spPr>
          <a:xfrm>
            <a:off x="695325" y="20002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0" name="Google Shape;310;p31"/>
          <p:cNvSpPr txBox="1"/>
          <p:nvPr/>
        </p:nvSpPr>
        <p:spPr>
          <a:xfrm>
            <a:off x="809625" y="20002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1. Lépés: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Kösd az Arduino 13-as portját (narancs/piros vezeték) a breadboard egyik sorára.</a:t>
            </a:r>
            <a:endParaRPr/>
          </a:p>
        </p:txBody>
      </p:sp>
      <p:sp>
        <p:nvSpPr>
          <p:cNvPr id="311" name="Google Shape;311;p31"/>
          <p:cNvSpPr txBox="1"/>
          <p:nvPr/>
        </p:nvSpPr>
        <p:spPr>
          <a:xfrm>
            <a:off x="695325" y="27527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2" name="Google Shape;312;p31"/>
          <p:cNvSpPr txBox="1"/>
          <p:nvPr/>
        </p:nvSpPr>
        <p:spPr>
          <a:xfrm>
            <a:off x="809625" y="275272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2. Lépés: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Tegyél egy 220 Ohmos ellenállást ebbe a sorba, a másik lábát pedig át egy üres sorba. Ezzel védjük a LED-et!</a:t>
            </a:r>
            <a:endParaRPr/>
          </a:p>
        </p:txBody>
      </p:sp>
      <p:sp>
        <p:nvSpPr>
          <p:cNvPr id="313" name="Google Shape;313;p31"/>
          <p:cNvSpPr txBox="1"/>
          <p:nvPr/>
        </p:nvSpPr>
        <p:spPr>
          <a:xfrm>
            <a:off x="695325" y="35052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809625" y="35052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3. Lépés: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LED hosszabbik lábát (Anód +) dugd az ellenállás mellé.</a:t>
            </a:r>
            <a:endParaRPr/>
          </a:p>
        </p:txBody>
      </p:sp>
      <p:sp>
        <p:nvSpPr>
          <p:cNvPr id="315" name="Google Shape;315;p31"/>
          <p:cNvSpPr txBox="1"/>
          <p:nvPr/>
        </p:nvSpPr>
        <p:spPr>
          <a:xfrm>
            <a:off x="695325" y="42576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6" name="Google Shape;316;p31"/>
          <p:cNvSpPr txBox="1"/>
          <p:nvPr/>
        </p:nvSpPr>
        <p:spPr>
          <a:xfrm>
            <a:off x="809625" y="425767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4. Lépés: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LED rövidebb lábát (Katód -) kösd a panel GND (Föld) portjához (fekete vezeték).</a:t>
            </a:r>
            <a:endParaRPr/>
          </a:p>
        </p:txBody>
      </p:sp>
      <p:pic>
        <p:nvPicPr>
          <p:cNvPr id="317" name="Google Shape;317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77392"/>
            <a:ext cx="10125819" cy="2855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50902" y="2477392"/>
            <a:ext cx="11232356" cy="2855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3875633"/>
            <a:ext cx="9344769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241427" y="3875633"/>
            <a:ext cx="10451306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Kódminta: Blink</a:t>
            </a:r>
            <a:endParaRPr/>
          </a:p>
        </p:txBody>
      </p:sp>
      <p:sp>
        <p:nvSpPr>
          <p:cNvPr id="328" name="Google Shape;328;p32"/>
          <p:cNvSpPr txBox="1"/>
          <p:nvPr/>
        </p:nvSpPr>
        <p:spPr>
          <a:xfrm>
            <a:off x="962025" y="2867917"/>
            <a:ext cx="981200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Előkészületek</a:t>
            </a:r>
            <a:endParaRPr/>
          </a:p>
        </p:txBody>
      </p:sp>
      <p:sp>
        <p:nvSpPr>
          <p:cNvPr id="329" name="Google Shape;329;p32"/>
          <p:cNvSpPr txBox="1"/>
          <p:nvPr/>
        </p:nvSpPr>
        <p:spPr>
          <a:xfrm>
            <a:off x="962025" y="3448942"/>
            <a:ext cx="9344769" cy="28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Deklaráljuk, melyik portot használjuk, és kimenetté tesszük a setup() részben.</a:t>
            </a:r>
            <a:endParaRPr/>
          </a:p>
        </p:txBody>
      </p:sp>
      <p:sp>
        <p:nvSpPr>
          <p:cNvPr id="330" name="Google Shape;330;p32"/>
          <p:cNvSpPr txBox="1"/>
          <p:nvPr/>
        </p:nvSpPr>
        <p:spPr>
          <a:xfrm>
            <a:off x="12241427" y="2867917"/>
            <a:ext cx="4031506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 err="1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Végtelen</a:t>
            </a:r>
            <a:r>
              <a:rPr lang="en-US" sz="2250" b="0" i="0" u="none" strike="noStrike" cap="none" dirty="0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2250" b="0" i="0" u="none" strike="noStrike" cap="none" dirty="0" err="1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Ciklus</a:t>
            </a:r>
            <a:endParaRPr dirty="0"/>
          </a:p>
        </p:txBody>
      </p:sp>
      <p:sp>
        <p:nvSpPr>
          <p:cNvPr id="331" name="Google Shape;331;p32"/>
          <p:cNvSpPr txBox="1"/>
          <p:nvPr/>
        </p:nvSpPr>
        <p:spPr>
          <a:xfrm>
            <a:off x="12241426" y="3448942"/>
            <a:ext cx="7849973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loop()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gondoskodik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folyamatos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fel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-le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kapcsolásról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és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várakozásról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>
          <a:extLst>
            <a:ext uri="{FF2B5EF4-FFF2-40B4-BE49-F238E27FC236}">
              <a16:creationId xmlns:a16="http://schemas.microsoft.com/office/drawing/2014/main" id="{A54BCA51-E7ED-E019-959B-17B891639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32" descr="image.png">
            <a:extLst>
              <a:ext uri="{FF2B5EF4-FFF2-40B4-BE49-F238E27FC236}">
                <a16:creationId xmlns:a16="http://schemas.microsoft.com/office/drawing/2014/main" id="{418877E9-FD9C-80B7-3356-D9AB1AE4E69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2" descr="image.png">
            <a:extLst>
              <a:ext uri="{FF2B5EF4-FFF2-40B4-BE49-F238E27FC236}">
                <a16:creationId xmlns:a16="http://schemas.microsoft.com/office/drawing/2014/main" id="{B8F359DF-9A7C-2D72-4CF8-2AA32792959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0202532" y="2477392"/>
            <a:ext cx="10125819" cy="2855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2" descr="image.png">
            <a:extLst>
              <a:ext uri="{FF2B5EF4-FFF2-40B4-BE49-F238E27FC236}">
                <a16:creationId xmlns:a16="http://schemas.microsoft.com/office/drawing/2014/main" id="{56B303FF-7359-18D9-AA20-0F5CCF51561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77392"/>
            <a:ext cx="11232356" cy="2855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2" descr="image.png">
            <a:extLst>
              <a:ext uri="{FF2B5EF4-FFF2-40B4-BE49-F238E27FC236}">
                <a16:creationId xmlns:a16="http://schemas.microsoft.com/office/drawing/2014/main" id="{176927C3-8784-D831-BE3D-C81ADE3E7C3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1" y="1196280"/>
            <a:ext cx="1084183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2" descr="image.png">
            <a:extLst>
              <a:ext uri="{FF2B5EF4-FFF2-40B4-BE49-F238E27FC236}">
                <a16:creationId xmlns:a16="http://schemas.microsoft.com/office/drawing/2014/main" id="{E2FAF984-AD29-8B5A-A7DC-DCC99565175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3875633"/>
            <a:ext cx="10451306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2">
            <a:extLst>
              <a:ext uri="{FF2B5EF4-FFF2-40B4-BE49-F238E27FC236}">
                <a16:creationId xmlns:a16="http://schemas.microsoft.com/office/drawing/2014/main" id="{7D923F61-3548-5952-51A7-8B69C3F6F6F1}"/>
              </a:ext>
            </a:extLst>
          </p:cNvPr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Kódminta: Blink</a:t>
            </a:r>
            <a:endParaRPr/>
          </a:p>
        </p:txBody>
      </p:sp>
      <p:sp>
        <p:nvSpPr>
          <p:cNvPr id="328" name="Google Shape;328;p32">
            <a:extLst>
              <a:ext uri="{FF2B5EF4-FFF2-40B4-BE49-F238E27FC236}">
                <a16:creationId xmlns:a16="http://schemas.microsoft.com/office/drawing/2014/main" id="{1F9FBD7A-3B59-87B9-5042-021EE27140E0}"/>
              </a:ext>
            </a:extLst>
          </p:cNvPr>
          <p:cNvSpPr txBox="1"/>
          <p:nvPr/>
        </p:nvSpPr>
        <p:spPr>
          <a:xfrm>
            <a:off x="-9812007" y="2867917"/>
            <a:ext cx="981200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Előkészületek</a:t>
            </a:r>
            <a:endParaRPr/>
          </a:p>
        </p:txBody>
      </p:sp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3D6AB54D-0FED-6998-1ED3-57E8D22C78E4}"/>
              </a:ext>
            </a:extLst>
          </p:cNvPr>
          <p:cNvSpPr txBox="1"/>
          <p:nvPr/>
        </p:nvSpPr>
        <p:spPr>
          <a:xfrm>
            <a:off x="-9812007" y="3448942"/>
            <a:ext cx="9344769" cy="28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Deklaráljuk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melyik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portot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használjuk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és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kimenetté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tesszük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setup()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részben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330" name="Google Shape;330;p32">
            <a:extLst>
              <a:ext uri="{FF2B5EF4-FFF2-40B4-BE49-F238E27FC236}">
                <a16:creationId xmlns:a16="http://schemas.microsoft.com/office/drawing/2014/main" id="{8700E615-347B-6C46-8640-3425E2D771DB}"/>
              </a:ext>
            </a:extLst>
          </p:cNvPr>
          <p:cNvSpPr txBox="1"/>
          <p:nvPr/>
        </p:nvSpPr>
        <p:spPr>
          <a:xfrm>
            <a:off x="962025" y="2867917"/>
            <a:ext cx="5066242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 err="1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Végtelen</a:t>
            </a:r>
            <a:r>
              <a:rPr lang="en-US" sz="2250" b="0" i="0" u="none" strike="noStrike" cap="none" dirty="0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2250" b="0" i="0" u="none" strike="noStrike" cap="none" dirty="0" err="1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Ciklus</a:t>
            </a:r>
            <a:endParaRPr dirty="0"/>
          </a:p>
        </p:txBody>
      </p:sp>
      <p:sp>
        <p:nvSpPr>
          <p:cNvPr id="331" name="Google Shape;331;p32">
            <a:extLst>
              <a:ext uri="{FF2B5EF4-FFF2-40B4-BE49-F238E27FC236}">
                <a16:creationId xmlns:a16="http://schemas.microsoft.com/office/drawing/2014/main" id="{110AF265-33D8-8A56-52A0-2731BB8E54A2}"/>
              </a:ext>
            </a:extLst>
          </p:cNvPr>
          <p:cNvSpPr txBox="1"/>
          <p:nvPr/>
        </p:nvSpPr>
        <p:spPr>
          <a:xfrm>
            <a:off x="962025" y="3448943"/>
            <a:ext cx="92487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loop()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gondoskodik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folyamatos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fel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-le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kapcsolásról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és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várakozásról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64222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91766"/>
            <a:ext cx="3429000" cy="3826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1991766"/>
            <a:ext cx="3429000" cy="3826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1991766"/>
            <a:ext cx="3429000" cy="3826966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Önálló Kihívások</a:t>
            </a:r>
            <a:endParaRPr/>
          </a:p>
        </p:txBody>
      </p:sp>
      <p:sp>
        <p:nvSpPr>
          <p:cNvPr id="341" name="Google Shape;341;p33"/>
          <p:cNvSpPr txBox="1"/>
          <p:nvPr/>
        </p:nvSpPr>
        <p:spPr>
          <a:xfrm>
            <a:off x="1425892" y="3191916"/>
            <a:ext cx="172021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Sebesség</a:t>
            </a:r>
            <a:endParaRPr/>
          </a:p>
        </p:txBody>
      </p:sp>
      <p:sp>
        <p:nvSpPr>
          <p:cNvPr id="342" name="Google Shape;342;p33"/>
          <p:cNvSpPr txBox="1"/>
          <p:nvPr/>
        </p:nvSpPr>
        <p:spPr>
          <a:xfrm>
            <a:off x="866775" y="3772941"/>
            <a:ext cx="2838450" cy="165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Módosítsd a kódban a delay() paramétereit! Próbáld meg elérni, hogy a LED nagyon gyorsan stroboszkópszerűen villogjon (pl. 50 ms), vagy asszimetrikusan (hosszú be, rövid ki).</a:t>
            </a:r>
            <a:endParaRPr/>
          </a:p>
        </p:txBody>
      </p:sp>
      <p:sp>
        <p:nvSpPr>
          <p:cNvPr id="343" name="Google Shape;343;p33"/>
          <p:cNvSpPr txBox="1"/>
          <p:nvPr/>
        </p:nvSpPr>
        <p:spPr>
          <a:xfrm>
            <a:off x="5205888" y="3191916"/>
            <a:ext cx="178022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Dupla LED</a:t>
            </a:r>
            <a:endParaRPr/>
          </a:p>
        </p:txBody>
      </p:sp>
      <p:sp>
        <p:nvSpPr>
          <p:cNvPr id="344" name="Google Shape;344;p33"/>
          <p:cNvSpPr txBox="1"/>
          <p:nvPr/>
        </p:nvSpPr>
        <p:spPr>
          <a:xfrm>
            <a:off x="4676775" y="3772941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Építs a breadboard-ra még egy LED-et egy saját ellenállással. Kösd egy másik portra (pl. 12-es). Írd át a kódot, hogy felváltva villogjanak, mint egy vasúti átjáró!</a:t>
            </a:r>
            <a:endParaRPr/>
          </a:p>
        </p:txBody>
      </p:sp>
      <p:sp>
        <p:nvSpPr>
          <p:cNvPr id="345" name="Google Shape;345;p33"/>
          <p:cNvSpPr txBox="1"/>
          <p:nvPr/>
        </p:nvSpPr>
        <p:spPr>
          <a:xfrm>
            <a:off x="9335928" y="3191916"/>
            <a:ext cx="114014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S.O.S.</a:t>
            </a:r>
            <a:endParaRPr/>
          </a:p>
        </p:txBody>
      </p:sp>
      <p:sp>
        <p:nvSpPr>
          <p:cNvPr id="346" name="Google Shape;346;p33"/>
          <p:cNvSpPr txBox="1"/>
          <p:nvPr/>
        </p:nvSpPr>
        <p:spPr>
          <a:xfrm>
            <a:off x="8486775" y="3772941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Programozz le egy S.O.S morze jelzést! 3 rövid villanás (gyors delay), 3 hosszú villanás, majd ismét 3 rövid villanás. Használj ciklusokat, ha tudsz!</a:t>
            </a:r>
            <a:endParaRPr/>
          </a:p>
        </p:txBody>
      </p:sp>
      <p:pic>
        <p:nvPicPr>
          <p:cNvPr id="347" name="Google Shape;347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76450" y="2429916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15025" y="2429916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67875" y="2429916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356" name="Google Shape;356;p34"/>
          <p:cNvSpPr/>
          <p:nvPr/>
        </p:nvSpPr>
        <p:spPr>
          <a:xfrm>
            <a:off x="2947987" y="1555700"/>
            <a:ext cx="6296025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4"/>
          <p:cNvSpPr/>
          <p:nvPr/>
        </p:nvSpPr>
        <p:spPr>
          <a:xfrm>
            <a:off x="2947987" y="2340471"/>
            <a:ext cx="6296025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4"/>
          <p:cNvSpPr/>
          <p:nvPr/>
        </p:nvSpPr>
        <p:spPr>
          <a:xfrm>
            <a:off x="2947987" y="3125241"/>
            <a:ext cx="6296025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4"/>
          <p:cNvSpPr/>
          <p:nvPr/>
        </p:nvSpPr>
        <p:spPr>
          <a:xfrm>
            <a:off x="2947987" y="3910012"/>
            <a:ext cx="6296025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4"/>
          <p:cNvSpPr/>
          <p:nvPr/>
        </p:nvSpPr>
        <p:spPr>
          <a:xfrm>
            <a:off x="2947987" y="4694783"/>
            <a:ext cx="6296025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4"/>
          <p:cNvSpPr/>
          <p:nvPr/>
        </p:nvSpPr>
        <p:spPr>
          <a:xfrm>
            <a:off x="2947987" y="2330946"/>
            <a:ext cx="62960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4"/>
          <p:cNvSpPr/>
          <p:nvPr/>
        </p:nvSpPr>
        <p:spPr>
          <a:xfrm>
            <a:off x="2947987" y="2330946"/>
            <a:ext cx="62960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4"/>
          <p:cNvSpPr/>
          <p:nvPr/>
        </p:nvSpPr>
        <p:spPr>
          <a:xfrm>
            <a:off x="2947987" y="3115716"/>
            <a:ext cx="62960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4"/>
          <p:cNvSpPr/>
          <p:nvPr/>
        </p:nvSpPr>
        <p:spPr>
          <a:xfrm>
            <a:off x="2947987" y="3115716"/>
            <a:ext cx="62960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4"/>
          <p:cNvSpPr/>
          <p:nvPr/>
        </p:nvSpPr>
        <p:spPr>
          <a:xfrm>
            <a:off x="2947987" y="3900487"/>
            <a:ext cx="62960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4"/>
          <p:cNvSpPr/>
          <p:nvPr/>
        </p:nvSpPr>
        <p:spPr>
          <a:xfrm>
            <a:off x="2947987" y="3900487"/>
            <a:ext cx="62960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4"/>
          <p:cNvSpPr/>
          <p:nvPr/>
        </p:nvSpPr>
        <p:spPr>
          <a:xfrm>
            <a:off x="2947987" y="4685258"/>
            <a:ext cx="62960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4"/>
          <p:cNvSpPr/>
          <p:nvPr/>
        </p:nvSpPr>
        <p:spPr>
          <a:xfrm>
            <a:off x="2947987" y="4685258"/>
            <a:ext cx="62960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4"/>
          <p:cNvSpPr/>
          <p:nvPr/>
        </p:nvSpPr>
        <p:spPr>
          <a:xfrm>
            <a:off x="2947987" y="5470028"/>
            <a:ext cx="62960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4"/>
          <p:cNvSpPr/>
          <p:nvPr/>
        </p:nvSpPr>
        <p:spPr>
          <a:xfrm>
            <a:off x="2947987" y="5470028"/>
            <a:ext cx="62960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" name="Google Shape;371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47987" y="17051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4"/>
          <p:cNvSpPr txBox="1"/>
          <p:nvPr/>
        </p:nvSpPr>
        <p:spPr>
          <a:xfrm>
            <a:off x="4043362" y="1698575"/>
            <a:ext cx="520065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https://content.instructables.com/F4A/OUPU/I06JB4EL/F4AOUPUI06JB4EL.jpg</a:t>
            </a:r>
            <a:endParaRPr/>
          </a:p>
        </p:txBody>
      </p:sp>
      <p:sp>
        <p:nvSpPr>
          <p:cNvPr id="373" name="Google Shape;373;p34"/>
          <p:cNvSpPr txBox="1"/>
          <p:nvPr/>
        </p:nvSpPr>
        <p:spPr>
          <a:xfrm>
            <a:off x="4043362" y="1944290"/>
            <a:ext cx="52006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www.instructables.com</a:t>
            </a:r>
            <a:endParaRPr/>
          </a:p>
        </p:txBody>
      </p:sp>
      <p:pic>
        <p:nvPicPr>
          <p:cNvPr id="374" name="Google Shape;374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47987" y="24898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4"/>
          <p:cNvSpPr txBox="1"/>
          <p:nvPr/>
        </p:nvSpPr>
        <p:spPr>
          <a:xfrm>
            <a:off x="4043362" y="2483346"/>
            <a:ext cx="520065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https://electronicsclub.info/images/breadboardlinks.gif</a:t>
            </a:r>
            <a:endParaRPr/>
          </a:p>
        </p:txBody>
      </p:sp>
      <p:sp>
        <p:nvSpPr>
          <p:cNvPr id="376" name="Google Shape;376;p34"/>
          <p:cNvSpPr txBox="1"/>
          <p:nvPr/>
        </p:nvSpPr>
        <p:spPr>
          <a:xfrm>
            <a:off x="4043362" y="2729061"/>
            <a:ext cx="52006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electronicsclub.info</a:t>
            </a:r>
            <a:endParaRPr/>
          </a:p>
        </p:txBody>
      </p:sp>
      <p:pic>
        <p:nvPicPr>
          <p:cNvPr id="377" name="Google Shape;377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47987" y="327466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4"/>
          <p:cNvSpPr txBox="1"/>
          <p:nvPr/>
        </p:nvSpPr>
        <p:spPr>
          <a:xfrm>
            <a:off x="4043362" y="3268116"/>
            <a:ext cx="520065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https://cdn.shopify.com/s/files/1/0695/1347/8453/files/Anode_480x480.png?v=1694617763</a:t>
            </a:r>
            <a:endParaRPr/>
          </a:p>
        </p:txBody>
      </p:sp>
      <p:sp>
        <p:nvSpPr>
          <p:cNvPr id="379" name="Google Shape;379;p34"/>
          <p:cNvSpPr txBox="1"/>
          <p:nvPr/>
        </p:nvSpPr>
        <p:spPr>
          <a:xfrm>
            <a:off x="4043362" y="3513832"/>
            <a:ext cx="52006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www.switchelectronics.co.uk</a:t>
            </a:r>
            <a:endParaRPr/>
          </a:p>
        </p:txBody>
      </p:sp>
      <p:pic>
        <p:nvPicPr>
          <p:cNvPr id="380" name="Google Shape;380;p3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47987" y="405943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4"/>
          <p:cNvSpPr txBox="1"/>
          <p:nvPr/>
        </p:nvSpPr>
        <p:spPr>
          <a:xfrm>
            <a:off x="4043362" y="4052887"/>
            <a:ext cx="520065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https://hyperelectronic.net/wp-content/uploads/2018/12/Resistor_4_band_Table.png</a:t>
            </a:r>
            <a:endParaRPr dirty="0"/>
          </a:p>
        </p:txBody>
      </p:sp>
      <p:sp>
        <p:nvSpPr>
          <p:cNvPr id="382" name="Google Shape;382;p34"/>
          <p:cNvSpPr txBox="1"/>
          <p:nvPr/>
        </p:nvSpPr>
        <p:spPr>
          <a:xfrm>
            <a:off x="4043362" y="4298602"/>
            <a:ext cx="52006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hyperelectronic.net</a:t>
            </a:r>
            <a:endParaRPr/>
          </a:p>
        </p:txBody>
      </p:sp>
      <p:pic>
        <p:nvPicPr>
          <p:cNvPr id="383" name="Google Shape;383;p3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947987" y="484420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4"/>
          <p:cNvSpPr txBox="1"/>
          <p:nvPr/>
        </p:nvSpPr>
        <p:spPr>
          <a:xfrm>
            <a:off x="4043362" y="4837658"/>
            <a:ext cx="520065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https://docs.arduino.cc/3fb57be2d7a0519e5e06856322874177/playpause.gif</a:t>
            </a:r>
            <a:endParaRPr/>
          </a:p>
        </p:txBody>
      </p:sp>
      <p:sp>
        <p:nvSpPr>
          <p:cNvPr id="385" name="Google Shape;385;p34"/>
          <p:cNvSpPr txBox="1"/>
          <p:nvPr/>
        </p:nvSpPr>
        <p:spPr>
          <a:xfrm>
            <a:off x="4043362" y="5083373"/>
            <a:ext cx="52006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docs.arduino.cc</a:t>
            </a:r>
            <a:endParaRPr/>
          </a:p>
        </p:txBody>
      </p:sp>
      <p:pic>
        <p:nvPicPr>
          <p:cNvPr id="386" name="Google Shape;386;p3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947987" y="562897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4"/>
          <p:cNvSpPr txBox="1"/>
          <p:nvPr/>
        </p:nvSpPr>
        <p:spPr>
          <a:xfrm>
            <a:off x="4043362" y="5622428"/>
            <a:ext cx="520065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https://support.arduino.cc/hc/article_attachments/4679121933340</a:t>
            </a:r>
            <a:endParaRPr/>
          </a:p>
        </p:txBody>
      </p:sp>
      <p:sp>
        <p:nvSpPr>
          <p:cNvPr id="388" name="Google Shape;388;p34"/>
          <p:cNvSpPr txBox="1"/>
          <p:nvPr/>
        </p:nvSpPr>
        <p:spPr>
          <a:xfrm>
            <a:off x="4043362" y="5868144"/>
            <a:ext cx="52006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support.arduino.cc</a:t>
            </a:r>
            <a:endParaRPr/>
          </a:p>
        </p:txBody>
      </p:sp>
      <p:pic>
        <p:nvPicPr>
          <p:cNvPr id="395" name="Google Shape;395;p3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947987" y="10159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5"/>
          <p:cNvSpPr txBox="1"/>
          <p:nvPr/>
        </p:nvSpPr>
        <p:spPr>
          <a:xfrm>
            <a:off x="4043362" y="1009426"/>
            <a:ext cx="5284788" cy="240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https://cdn.sparkfun.com/assets/learn_tutorials/3/1/0/RedBoard_circuit_04_01.png</a:t>
            </a:r>
            <a:endParaRPr dirty="0"/>
          </a:p>
        </p:txBody>
      </p:sp>
      <p:sp>
        <p:nvSpPr>
          <p:cNvPr id="397" name="Google Shape;397;p35"/>
          <p:cNvSpPr txBox="1"/>
          <p:nvPr/>
        </p:nvSpPr>
        <p:spPr>
          <a:xfrm>
            <a:off x="4043362" y="1255141"/>
            <a:ext cx="45243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 dirty="0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learn.sparkfun.com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1748</Words>
  <Application>Microsoft Office PowerPoint</Application>
  <PresentationFormat>Widescreen</PresentationFormat>
  <Paragraphs>185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Calibri</vt:lpstr>
      <vt:lpstr>Poppins Medium</vt:lpstr>
      <vt:lpstr>Poppins</vt:lpstr>
      <vt:lpstr>Lato</vt:lpstr>
      <vt:lpstr>Arial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Burian Sándor</cp:lastModifiedBy>
  <cp:revision>2</cp:revision>
  <dcterms:modified xsi:type="dcterms:W3CDTF">2026-02-24T01:17:32Z</dcterms:modified>
</cp:coreProperties>
</file>